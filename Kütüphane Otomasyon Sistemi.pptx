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1" r:id="rId6"/>
    <p:sldId id="283" r:id="rId7"/>
    <p:sldId id="279" r:id="rId8"/>
    <p:sldId id="281" r:id="rId9"/>
    <p:sldId id="280" r:id="rId10"/>
    <p:sldId id="257" r:id="rId11"/>
    <p:sldId id="275" r:id="rId12"/>
    <p:sldId id="276" r:id="rId13"/>
    <p:sldId id="282" r:id="rId14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ş geldiniz" id="{E75E278A-FF0E-49A4-B170-79828D63BBAD}">
          <p14:sldIdLst>
            <p14:sldId id="256"/>
          </p14:sldIdLst>
        </p14:section>
        <p14:section name="Tasarım, Dönüşüm, Ek Açıklama, Birlikte Çalışma, Göster" id="{B9B51309-D148-4332-87C2-07BE32FBCA3B}">
          <p14:sldIdLst>
            <p14:sldId id="271"/>
            <p14:sldId id="283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Daha Fazla Bilgi Edinin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Yaza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41" autoAdjust="0"/>
  </p:normalViewPr>
  <p:slideViewPr>
    <p:cSldViewPr snapToGrid="0">
      <p:cViewPr varScale="1">
        <p:scale>
          <a:sx n="90" d="100"/>
          <a:sy n="90" d="100"/>
        </p:scale>
        <p:origin x="52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B640EDB-8696-4821-9977-ADF2EA20DA76}" type="datetime1">
              <a:rPr lang="tr-TR" smtClean="0"/>
              <a:t>21.03.2025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5B46EE-8D9E-4234-843E-EA54547AD9AE}" type="datetime1">
              <a:rPr lang="tr-TR" noProof="0" smtClean="0"/>
              <a:t>21.03.2025</a:t>
            </a:fld>
            <a:endParaRPr lang="tr-TR" noProof="0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 smtClean="0"/>
              <a:t>Asıl metin stillerini düzenlemek için tıklayın</a:t>
            </a:r>
          </a:p>
          <a:p>
            <a:pPr lvl="1" rtl="0"/>
            <a:r>
              <a:rPr lang="tr-TR" noProof="0" dirty="0" smtClean="0"/>
              <a:t>İkinci düzey</a:t>
            </a:r>
          </a:p>
          <a:p>
            <a:pPr lvl="2" rtl="0"/>
            <a:r>
              <a:rPr lang="tr-TR" noProof="0" dirty="0" smtClean="0"/>
              <a:t>Üçüncü düzey</a:t>
            </a:r>
          </a:p>
          <a:p>
            <a:pPr lvl="3" rtl="0"/>
            <a:r>
              <a:rPr lang="tr-TR" noProof="0" dirty="0" smtClean="0"/>
              <a:t>Dördüncü düzey</a:t>
            </a:r>
          </a:p>
          <a:p>
            <a:pPr lvl="4" rtl="0"/>
            <a:r>
              <a:rPr lang="tr-TR" noProof="0" dirty="0" smtClean="0"/>
              <a:t>Beşinci düzey</a:t>
            </a:r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02480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4702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87207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37908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0138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2279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2669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tr-TR" noProof="0" dirty="0" smtClean="0"/>
              <a:t>Bağlantıları ziyaret etmek için Slayt Gösterisi </a:t>
            </a:r>
            <a:r>
              <a:rPr lang="tr-TR" noProof="0" dirty="0" err="1" smtClean="0"/>
              <a:t>modundayken</a:t>
            </a:r>
            <a:r>
              <a:rPr lang="tr-TR" noProof="0" dirty="0" smtClean="0"/>
              <a:t> oklara tıklayın.</a:t>
            </a:r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800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tr-TR" sz="1800" noProof="0" dirty="0"/>
          </a:p>
        </p:txBody>
      </p:sp>
      <p:cxnSp>
        <p:nvCxnSpPr>
          <p:cNvPr id="12" name="Düz Bağlayıcı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aşlık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Asıl metin stillerini düzenle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İkinci düzey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Üçüncü düzey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Dördüncü düzey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Beşinci düzey</a:t>
            </a:r>
            <a:endParaRPr lang="tr-TR" noProof="0" dirty="0"/>
          </a:p>
        </p:txBody>
      </p:sp>
      <p:sp>
        <p:nvSpPr>
          <p:cNvPr id="6" name="Tarih Yer Tutucusu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FAED58F-EB5B-4A36-96E7-60A39EA93EB2}" type="datetime1">
              <a:rPr lang="tr-TR" noProof="0" smtClean="0"/>
              <a:t>21.03.2025</a:t>
            </a:fld>
            <a:endParaRPr lang="tr-TR" noProof="0" dirty="0"/>
          </a:p>
        </p:txBody>
      </p:sp>
      <p:sp>
        <p:nvSpPr>
          <p:cNvPr id="7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8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tr-TR" noProof="0" smtClean="0"/>
              <a:pPr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Başlığ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800" noProof="0" dirty="0"/>
          </a:p>
        </p:txBody>
      </p:sp>
      <p:sp>
        <p:nvSpPr>
          <p:cNvPr id="10" name="Dikdörtgen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800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7" name="İçerik Yer Tutucusu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Asıl metin stillerini düzenle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İkinci düzey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Üçüncü düzey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Dördüncü düzey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Beşinci düzey</a:t>
            </a:r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tr-TR" sz="1800" noProof="0" dirty="0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tr-TR" noProof="0" dirty="0" smtClean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-TR" noProof="0" dirty="0" smtClean="0"/>
              <a:t>Asıl metin stillerini düzenlemek için tıklayın</a:t>
            </a:r>
          </a:p>
          <a:p>
            <a:pPr lvl="1" rtl="0"/>
            <a:r>
              <a:rPr lang="tr-TR" noProof="0" dirty="0" smtClean="0"/>
              <a:t>İkinci düzey</a:t>
            </a:r>
          </a:p>
          <a:p>
            <a:pPr lvl="2" rtl="0"/>
            <a:r>
              <a:rPr lang="tr-TR" noProof="0" dirty="0" smtClean="0"/>
              <a:t>Üçüncü düzey</a:t>
            </a:r>
          </a:p>
          <a:p>
            <a:pPr lvl="3" rtl="0"/>
            <a:r>
              <a:rPr lang="tr-TR" noProof="0" dirty="0" smtClean="0"/>
              <a:t>Dördüncü düzey</a:t>
            </a:r>
          </a:p>
          <a:p>
            <a:pPr lvl="4" rtl="0"/>
            <a:r>
              <a:rPr lang="tr-TR" noProof="0" dirty="0" smtClean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79A2361-2820-4F23-9FB2-E2B2AB16E0CA}" type="datetime1">
              <a:rPr lang="tr-TR" noProof="0" smtClean="0"/>
              <a:t>21.03.2025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tr-TR" noProof="0" smtClean="0"/>
              <a:pPr/>
              <a:t>‹#›</a:t>
            </a:fld>
            <a:endParaRPr lang="tr-TR" noProof="0" dirty="0"/>
          </a:p>
        </p:txBody>
      </p:sp>
      <p:cxnSp>
        <p:nvCxnSpPr>
          <p:cNvPr id="8" name="Düz Bağlayıcı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2416030" y="1199625"/>
            <a:ext cx="85427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600" dirty="0" smtClean="0"/>
              <a:t>KÜTÜPHANE OTOMASYON SİSTEMİ</a:t>
            </a:r>
            <a:endParaRPr lang="tr-TR" sz="9600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TANITIM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141545" y="2279718"/>
            <a:ext cx="6041141" cy="31815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spcAft>
                <a:spcPts val="600"/>
              </a:spcAft>
              <a:buNone/>
              <a:defRPr/>
            </a:pPr>
            <a:r>
              <a:rPr lang="tr-TR" sz="2400" dirty="0"/>
              <a:t>Bu projede, kütüphane işlemlerini kolaylaştırmak amacıyla bir otomasyon </a:t>
            </a:r>
            <a:r>
              <a:rPr lang="tr-TR" sz="2400" dirty="0" smtClean="0"/>
              <a:t>sistemi </a:t>
            </a:r>
            <a:r>
              <a:rPr lang="tr-TR" sz="2400" dirty="0"/>
              <a:t>geliştirdim. Kullanıcılar, kitap ödünç alabilir, iade edebilir, yeni kitaplar ekleyebilir ve mevcut kitaplar üzerinde arama yapabilir.</a:t>
            </a:r>
            <a:br>
              <a:rPr lang="tr-TR" sz="2400" dirty="0"/>
            </a:br>
            <a:r>
              <a:rPr lang="tr-TR" sz="2400" dirty="0"/>
              <a:t>Proje, </a:t>
            </a:r>
            <a:r>
              <a:rPr lang="tr-TR" sz="2400" b="1" dirty="0"/>
              <a:t>Visual </a:t>
            </a:r>
            <a:r>
              <a:rPr lang="tr-TR" sz="2400" b="1" dirty="0" err="1"/>
              <a:t>Studio</a:t>
            </a:r>
            <a:r>
              <a:rPr lang="tr-TR" sz="2400" b="1" dirty="0"/>
              <a:t> C# Windows Form</a:t>
            </a:r>
            <a:r>
              <a:rPr lang="tr-TR" sz="2400" dirty="0"/>
              <a:t> ile geliştirilmiş olup, </a:t>
            </a:r>
            <a:r>
              <a:rPr lang="tr-TR" sz="2400" dirty="0" err="1"/>
              <a:t>veritabanı</a:t>
            </a:r>
            <a:r>
              <a:rPr lang="tr-TR" sz="2400" dirty="0"/>
              <a:t> yönetimi için </a:t>
            </a:r>
            <a:r>
              <a:rPr lang="tr-TR" sz="2400" b="1" dirty="0"/>
              <a:t>SQL Server</a:t>
            </a:r>
            <a:r>
              <a:rPr lang="tr-TR" sz="2400" dirty="0"/>
              <a:t> kullanılmıştır. Kullanıcı dostu </a:t>
            </a:r>
            <a:r>
              <a:rPr lang="tr-TR" sz="2400" dirty="0" err="1"/>
              <a:t>arayüz</a:t>
            </a:r>
            <a:r>
              <a:rPr lang="tr-TR" sz="2400" dirty="0"/>
              <a:t> ve güvenli veri yönetimi ile verimli bir kütüphane yönetimi sağlanmaktadır.</a:t>
            </a: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TEKNOLOJİLER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0"/>
          </p:nvPr>
        </p:nvSpPr>
        <p:spPr>
          <a:xfrm>
            <a:off x="521207" y="1913780"/>
            <a:ext cx="4416552" cy="397764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 smtClean="0"/>
              <a:t>MİCROSOFT VİSUAL STUDİO 2022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 smtClean="0"/>
              <a:t>SQL SERVER 2022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 smtClean="0"/>
              <a:t>WINDOWS FORMS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 smtClean="0"/>
              <a:t>N KATMANLI MİMARİ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dirty="0" smtClean="0"/>
              <a:t>OBJECT ORIENTED PROGRAMMING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9509" y="4032589"/>
            <a:ext cx="2892523" cy="289252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327" y="1088136"/>
            <a:ext cx="3791519" cy="379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7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İÇERİK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89232" y="1088136"/>
            <a:ext cx="976478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Kitap Ekleme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Yazar Ekleme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Üye Ekleme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Sorumlu Ekleme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Yayınevi Ekleme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Tür Ekleme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Kategori Ekleme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Ödünç Alıp Verme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Rezervasyon İşlemleri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Raporlar Ekranı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0"/>
              <a:tabLst/>
            </a:pP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11"/>
              <a:tabLst/>
            </a:pPr>
            <a:r>
              <a:rPr kumimoji="0" lang="tr-TR" altLang="tr-TR" sz="16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Ayarlar</a:t>
            </a:r>
            <a:endParaRPr kumimoji="0" lang="tr-TR" altLang="tr-TR" sz="16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PROJEDE KULLANDIĞIM KATMANLAR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946" y="1941804"/>
            <a:ext cx="2519917" cy="4232493"/>
          </a:xfrm>
        </p:spPr>
      </p:pic>
      <p:sp>
        <p:nvSpPr>
          <p:cNvPr id="8" name="Dikdörtgen 7"/>
          <p:cNvSpPr/>
          <p:nvPr/>
        </p:nvSpPr>
        <p:spPr>
          <a:xfrm>
            <a:off x="226502" y="1745558"/>
            <a:ext cx="981511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tr-TR" b="1" dirty="0" err="1"/>
              <a:t>Entity</a:t>
            </a:r>
            <a:r>
              <a:rPr lang="tr-TR" b="1" dirty="0"/>
              <a:t> </a:t>
            </a:r>
            <a:r>
              <a:rPr lang="tr-TR" b="1" dirty="0" err="1"/>
              <a:t>Layer</a:t>
            </a:r>
            <a:r>
              <a:rPr lang="tr-TR" b="1" dirty="0"/>
              <a:t> (Varlık Katmanı)</a:t>
            </a:r>
            <a:endParaRPr lang="tr-TR" dirty="0"/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Sistemdeki nesnelerin ve verilerin yapılandırıldığı katmandır.</a:t>
            </a:r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Kitaplar, yazarlar, üyeler gibi </a:t>
            </a:r>
            <a:r>
              <a:rPr lang="tr-TR" dirty="0" err="1"/>
              <a:t>veritabanındaki</a:t>
            </a:r>
            <a:r>
              <a:rPr lang="tr-TR" dirty="0"/>
              <a:t> tablolara karşılık gelen sınıflar burada tanımlanır.</a:t>
            </a:r>
          </a:p>
          <a:p>
            <a:pPr>
              <a:buFont typeface="+mj-lt"/>
              <a:buAutoNum type="arabicPeriod"/>
            </a:pPr>
            <a:r>
              <a:rPr lang="tr-TR" b="1" dirty="0"/>
              <a:t>Data Access </a:t>
            </a:r>
            <a:r>
              <a:rPr lang="tr-TR" b="1" dirty="0" err="1"/>
              <a:t>Layer</a:t>
            </a:r>
            <a:r>
              <a:rPr lang="tr-TR" b="1" dirty="0"/>
              <a:t> (Veri Erişim Katmanı)</a:t>
            </a:r>
            <a:endParaRPr lang="tr-TR" dirty="0"/>
          </a:p>
          <a:p>
            <a:pPr marL="742950" lvl="1" indent="-285750">
              <a:buFont typeface="+mj-lt"/>
              <a:buAutoNum type="arabicPeriod"/>
            </a:pPr>
            <a:r>
              <a:rPr lang="tr-TR" dirty="0" err="1"/>
              <a:t>Veritabanı</a:t>
            </a:r>
            <a:r>
              <a:rPr lang="tr-TR" dirty="0"/>
              <a:t> ile etkileşime geçilen katmandır.</a:t>
            </a:r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SQL sorguları ve veri çekme, güncelleme işlemleri bu katmanda gerçekleştirilir.</a:t>
            </a:r>
          </a:p>
          <a:p>
            <a:pPr marL="742950" lvl="1" indent="-285750">
              <a:buFont typeface="+mj-lt"/>
              <a:buAutoNum type="arabicPeriod"/>
            </a:pPr>
            <a:r>
              <a:rPr lang="tr-TR" dirty="0" err="1"/>
              <a:t>Veritabanı</a:t>
            </a:r>
            <a:r>
              <a:rPr lang="tr-TR" dirty="0"/>
              <a:t> bağlantısı, sorgular ve </a:t>
            </a:r>
            <a:r>
              <a:rPr lang="tr-TR" dirty="0" err="1"/>
              <a:t>veritabanı</a:t>
            </a:r>
            <a:r>
              <a:rPr lang="tr-TR" dirty="0"/>
              <a:t> işlemleri bu katman aracılığıyla yapılır.</a:t>
            </a:r>
          </a:p>
          <a:p>
            <a:pPr>
              <a:buFont typeface="+mj-lt"/>
              <a:buAutoNum type="arabicPeriod"/>
            </a:pPr>
            <a:r>
              <a:rPr lang="tr-TR" b="1" dirty="0"/>
              <a:t>Business </a:t>
            </a:r>
            <a:r>
              <a:rPr lang="tr-TR" b="1" dirty="0" err="1"/>
              <a:t>Layer</a:t>
            </a:r>
            <a:r>
              <a:rPr lang="tr-TR" b="1" dirty="0"/>
              <a:t> (İş Katmanı)</a:t>
            </a:r>
            <a:endParaRPr lang="tr-TR" dirty="0"/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Uygulamanın iş mantığının bulunduğu katmandır.</a:t>
            </a:r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Veri doğrulama, işlem kontrolü ve uygulama kurallarının işlediği katmandır.</a:t>
            </a:r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Kullanıcı işlemleri ve veri analizi gibi iş mantığı bu katmanda yönetilir.</a:t>
            </a:r>
          </a:p>
          <a:p>
            <a:pPr>
              <a:buFont typeface="+mj-lt"/>
              <a:buAutoNum type="arabicPeriod"/>
            </a:pPr>
            <a:r>
              <a:rPr lang="tr-TR" b="1" dirty="0"/>
              <a:t>UI </a:t>
            </a:r>
            <a:r>
              <a:rPr lang="tr-TR" b="1" dirty="0" err="1"/>
              <a:t>Layer</a:t>
            </a:r>
            <a:r>
              <a:rPr lang="tr-TR" b="1" dirty="0"/>
              <a:t> (Kullanıcı </a:t>
            </a:r>
            <a:r>
              <a:rPr lang="tr-TR" b="1" dirty="0" err="1"/>
              <a:t>Arayüzü</a:t>
            </a:r>
            <a:r>
              <a:rPr lang="tr-TR" b="1" dirty="0"/>
              <a:t> Katmanı)</a:t>
            </a:r>
            <a:endParaRPr lang="tr-TR" dirty="0"/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Kullanıcı ile etkileşimin sağlandığı katmandır.</a:t>
            </a:r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Formlar, butonlar, etiketler ve diğer UI bileşenleri burada bulunur.</a:t>
            </a:r>
          </a:p>
          <a:p>
            <a:pPr marL="742950" lvl="1" indent="-285750">
              <a:buFont typeface="+mj-lt"/>
              <a:buAutoNum type="arabicPeriod"/>
            </a:pPr>
            <a:r>
              <a:rPr lang="tr-TR" dirty="0"/>
              <a:t>Kullanıcıdan gelen veriler UI </a:t>
            </a:r>
            <a:r>
              <a:rPr lang="tr-TR" dirty="0" err="1"/>
              <a:t>Layer</a:t>
            </a:r>
            <a:r>
              <a:rPr lang="tr-TR" dirty="0"/>
              <a:t> üzerinden alınarak diğer katmanlara iletilir.</a:t>
            </a:r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ENTİTY LAYER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21207" y="2082031"/>
            <a:ext cx="106948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Sunumunda kullanabileceğin </a:t>
            </a:r>
            <a:r>
              <a:rPr kumimoji="0" lang="tr-TR" altLang="tr-T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katmanlarını şu şekildedir: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Üye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Sorumlu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Yazar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Tür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Yayınevi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tr-TR" altLang="tr-T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Kategori</a:t>
            </a:r>
            <a:r>
              <a:rPr kumimoji="0" lang="tr-TR" altLang="tr-T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lvl="0"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DATA ACCESS LAYER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3004" y="1804060"/>
            <a:ext cx="1114058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Access 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(DAL) içinde kullanılabilecek 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entity'ler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için şu şekilde madde madde bir yapı oluşturabilirsin: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 bilgilerini veri tabanına erişim sağlayan 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metodlar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ile yönetir.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Üye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Üye bilgileri ile ilgili 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veritabanı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işlemlerini yönetir.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Sorumlu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Sorumlu kişilerin verilerini veri tabanına ekler, günceller veya siler.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Yazar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(Author)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Yazar bilgilerini veri tabanına işler.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Tür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 türleri ile ilgili 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veritabanı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işlemleri yapar.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Yayınevi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(Publisher)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Yayınevlerine ait veriler ile etkileşim sağlar.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tr-TR" altLang="tr-T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Kategori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 kategorilerini yönetir ve ilgili işlemleri yapar. 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şlık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BUSİNESS LAYER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95619" y="1070612"/>
            <a:ext cx="1200464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 (</a:t>
            </a:r>
            <a:r>
              <a:rPr kumimoji="0" lang="tr-TR" altLang="tr-T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</a:t>
            </a: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Kitaplarla ilgili iş mantığını yönetir (örneğin, kitap ekleme, düzenleme, silme).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Kitapların türlerine, yazarlarına, kategorilerine göre filtreleme yapar.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Üye (</a:t>
            </a:r>
            <a:r>
              <a:rPr kumimoji="0" lang="tr-TR" altLang="tr-T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</a:t>
            </a: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Üye işlemlerini yönetir (üye kaydı, üyelik güncelleme, üyelik silme).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Üye ödünç alma, iade etme işlemleri ve üye takibi yapar.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Sorumlu (</a:t>
            </a:r>
            <a:r>
              <a:rPr kumimoji="0" lang="tr-TR" altLang="tr-T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</a:t>
            </a: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Sorumlu kişilerin görevlerini, çalışma saatlerini yönetir.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Kitapların raflarda yerleşimini, düzenini ve sorumlu kişilerin denetim süreçlerini takip eder.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Yazar (Author)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Yazar ekleme, güncelleme, silme işlemleri.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Yazarların kitapları ve biyografileri ile ilgili iş mantığını yönetir.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Tür (</a:t>
            </a:r>
            <a:r>
              <a:rPr kumimoji="0" lang="tr-TR" altLang="tr-T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</a:t>
            </a: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 türlerine göre kitapları grupla ve tür bazında raporlama yapar.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 türler ekler, mevcut türlerde değişiklikler yapar.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Yayınevi (Publisher)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Yayınevlerine ait işlemleri yönetir (yayın sözleşmeleri, yeni yayınlar).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Yayın evine bağlı kitapları takip eder.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Kategori (</a:t>
            </a:r>
            <a:r>
              <a:rPr kumimoji="0" lang="tr-TR" altLang="tr-T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</a:t>
            </a:r>
            <a:r>
              <a:rPr kumimoji="0" lang="tr-TR" altLang="tr-T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tr-TR" alt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Kitapları kategorilere ayırır ve kategori bazında düzenleme yapar.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Kategorilere göre kitapları filtreler.</a:t>
            </a:r>
          </a:p>
        </p:txBody>
      </p:sp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UI / </a:t>
            </a:r>
            <a:r>
              <a:rPr lang="tr-TR" dirty="0">
                <a:latin typeface="Segoe UI Light" panose="020B0502040204020203" pitchFamily="34" charset="0"/>
                <a:cs typeface="Segoe UI Light" panose="020B0502040204020203" pitchFamily="34" charset="0"/>
              </a:rPr>
              <a:t>P</a:t>
            </a:r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resentation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4" name="İçerik Yer Tutucusu 17"/>
          <p:cNvSpPr txBox="1">
            <a:spLocks/>
          </p:cNvSpPr>
          <p:nvPr/>
        </p:nvSpPr>
        <p:spPr>
          <a:xfrm>
            <a:off x="8429668" y="5273573"/>
            <a:ext cx="3107336" cy="1341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2000"/>
              </a:spcAft>
              <a:buNone/>
            </a:pPr>
            <a:endParaRPr lang="tr-TR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3095537" y="3103927"/>
            <a:ext cx="67363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600" dirty="0" smtClean="0"/>
              <a:t>UYGULAMA</a:t>
            </a:r>
            <a:endParaRPr lang="tr-TR" sz="9600" dirty="0"/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444618" y="1031845"/>
            <a:ext cx="12960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smtClean="0">
                <a:solidFill>
                  <a:schemeClr val="bg1"/>
                </a:solidFill>
              </a:rPr>
              <a:t>SUNUM BİTMİŞTİR VAKİT AYIRDIĞINIZ İÇİN TEŞEKKÜR EDERİM</a:t>
            </a:r>
            <a:endParaRPr lang="tr-TR" sz="3200" dirty="0">
              <a:solidFill>
                <a:schemeClr val="bg1"/>
              </a:solidFill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777668" y="3298677"/>
            <a:ext cx="375160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400" dirty="0" smtClean="0"/>
              <a:t>HAZIRLAYAN : Ahmet ÇAKIR</a:t>
            </a:r>
            <a:endParaRPr lang="tr-TR" sz="4400" dirty="0"/>
          </a:p>
        </p:txBody>
      </p:sp>
      <p:pic>
        <p:nvPicPr>
          <p:cNvPr id="13" name="Resi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907" y="2703411"/>
            <a:ext cx="4392538" cy="37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şGeldinizBelges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61_TF10001108" id="{41B9FDAB-6CD4-418F-812E-0C6B6869C1A7}" vid="{9345BDE5-1EF4-48F4-B8D4-BEF6914F668A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0072C5-DDE0-4258-BA7A-4D4B80DFA632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PowerPoint'e Hoş Geldiniz</Template>
  <TotalTime>0</TotalTime>
  <Words>583</Words>
  <Application>Microsoft Office PowerPoint</Application>
  <PresentationFormat>Geniş ekran</PresentationFormat>
  <Paragraphs>110</Paragraphs>
  <Slides>10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HoşGeldinizBelgesi</vt:lpstr>
      <vt:lpstr>PowerPoint Sunusu</vt:lpstr>
      <vt:lpstr>TANITIM</vt:lpstr>
      <vt:lpstr>TEKNOLOJİLER</vt:lpstr>
      <vt:lpstr>İÇERİK</vt:lpstr>
      <vt:lpstr>PROJEDE KULLANDIĞIM KATMANLAR</vt:lpstr>
      <vt:lpstr>ENTİTY LAYER</vt:lpstr>
      <vt:lpstr>DATA ACCESS LAYER</vt:lpstr>
      <vt:lpstr>BUSİNESS LAYER</vt:lpstr>
      <vt:lpstr>UI / Presentation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2025-03-21T06:59:18Z</dcterms:created>
  <dcterms:modified xsi:type="dcterms:W3CDTF">2025-03-21T10:23:55Z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